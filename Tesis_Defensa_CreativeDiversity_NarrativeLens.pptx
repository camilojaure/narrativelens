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64592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ITBA · M.Sc. Management &amp; Analytics · Defensa de Tesis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 Diversity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Ad Performance en TikTok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dimensiones CDS y su relación con el CTR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365760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Jaureguiberry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42062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42245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578 Top Ads · Q1 2025 · TikTok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 / 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42062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1430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1430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la pregunta de investigación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36776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36776"/>
            <a:ext cx="54864" cy="42062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63677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63677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conceptual: CDS y CTR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30552"/>
            <a:ext cx="82296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30552"/>
            <a:ext cx="54864" cy="42062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1305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130552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metodología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624328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24328"/>
            <a:ext cx="5486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26243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624328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análisis univariado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18104"/>
            <a:ext cx="82296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18104"/>
            <a:ext cx="5486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118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118104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análisis multivariado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611880"/>
            <a:ext cx="54864" cy="4206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36118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61188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y discusión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105656"/>
            <a:ext cx="82296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05656"/>
            <a:ext cx="54864" cy="420624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41056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4105656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NarrativeLens: del insight al producto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10512" cy="256032"/>
          </a:xfrm>
          <a:prstGeom prst="roundRect">
            <a:avLst>
              <a:gd name="adj" fmla="val 17857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· EL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Más anuncios ≠ mejor rendimiento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motivó esta investigación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 / 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91440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1430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 creatividad es el nuevo targeting.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variedad entre los anuncios sí — más anuncios, no."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Ready Set, Creative Diversity Report 2023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87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" y="3044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Fatiga creativa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~100 días, un anuncio puede caer ~30% en CTR por saturación. El volumen sin variedad genera rendimientos decrecientes.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242316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73552" y="2587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10712" y="3044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Intuición sin evidencia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10712" y="34290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marcas diversifican creatividades, pero no saben qué dimensión importa más: ¿el tema? ¿el casting? ¿el concepto?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9904" y="242316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89904" y="25877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27064" y="30449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Costo sin claridad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27064" y="34290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reporta -46% en CPA con 3-10 creatividades distintas. Pero, ¿qué tipo de diversidad genera ese lift?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 / 19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200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impactan las distintas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dimensiones de la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diversidad creativa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8072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anuncios de TikTok sobre la tasa de clics?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3931920"/>
            <a:ext cx="850392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identificar qué atributos creativos se asocian sistemáticamente con mayor CTR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las marcas puedan priorizar su inversión creativa con evidencia cuantitativa.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290572" cy="256032"/>
          </a:xfrm>
          <a:prstGeom prst="roundRect">
            <a:avLst>
              <a:gd name="adj" fmla="val 1785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290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 · MARCO CONCEPTUAL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 Diversity Score (CDS)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Ready Set — adaptado a TikTok en este estudio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 / 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4114800" cy="3611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mide el CDS?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índice compuesto que refleja la amplitud y equilibrio de la estrategia creativa de una campaña en múltiples dimensiones.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Premisa central: un CDS alto → mayor variedad conceptual → menor fatiga → mejor performance sostenido.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374904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estudio: 3 dimensiones adaptadas a TikTok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5478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Etiquetadas con Gemini 1.5 turbo sobre 578 Top Ads del Q1 2025.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manual: concordancia &gt; 85%.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3931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43000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252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Creative Theme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600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Product-Centric · Lifestyle · Testimonial · Educativo · Humor · Basado en eventos · Promocional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31720"/>
            <a:ext cx="3931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31720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41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Creative Concept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788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· Product demo · Comparación · UGC · Day-in-the-life · Limited-time offer · Expert review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520440"/>
            <a:ext cx="3931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520440"/>
            <a:ext cx="54864" cy="1097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630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🎭  Talent Type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977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· Una persona · Influencers · Actores · Clientes · Expertos · Grupos diversos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810512" cy="256032"/>
          </a:xfrm>
          <a:prstGeom prst="roundRect">
            <a:avLst>
              <a:gd name="adj" fmla="val 1785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· METODOLOGÍA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y enfoque analítico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empírico para aislar el efecto de cada dimensión creativa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 / 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66928" y="219456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Ads de TikTok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(TikTok Ads Library, Q1 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3552" y="14630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73552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219456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CDS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etiquetadas con Gemini 1.5 turbo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4630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9904" y="1600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&gt;85%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99632" y="219456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Concordancia humano-modelo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(validación manual 10% muestra)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ANALÍTICO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54864" cy="1508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33649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5216" y="3767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Univariado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" y="409651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promedio por categoría en cada dimensión. Detección de patrones simples y outliers.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73552" y="32918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73552" y="3291840"/>
            <a:ext cx="54864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33649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01568" y="3767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 OLS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01568" y="409651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superposición de variables. Estima efecto lineal aislado de cada atributo sobre CTR (R² = 41.2%).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9904" y="32918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3291840"/>
            <a:ext cx="54864" cy="150876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3649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0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0" y="3767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409651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efectos no lineales. Feature importance para ranking de variables sin estructura funcional predeterminada.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8371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Análisis observacional: las asociaciones detectadas son correlacionales, no causales (Cunningham, 2021).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866644" cy="256032"/>
          </a:xfrm>
          <a:prstGeom prst="roundRect">
            <a:avLst>
              <a:gd name="adj" fmla="val 17857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8666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· RESULTADOS UNIVARIADOS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 promedio por Creative Theme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temas no son intercambiables — hay jerarquía de performance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 / 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5303520" cy="401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2148840" cy="401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Trend-Based &amp; Reactive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51760" y="1223264"/>
            <a:ext cx="588305" cy="2407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143000"/>
            <a:ext cx="50292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44320"/>
            <a:ext cx="5303520" cy="401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44320"/>
            <a:ext cx="2148840" cy="401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&amp; Entertainment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51760" y="1624584"/>
            <a:ext cx="802234" cy="2407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544320"/>
            <a:ext cx="50292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945640"/>
            <a:ext cx="5303520" cy="401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45640"/>
            <a:ext cx="2148840" cy="401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Story &amp; Mission-Driven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51760" y="2025904"/>
            <a:ext cx="855716" cy="2407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945640"/>
            <a:ext cx="50292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346960"/>
            <a:ext cx="5303520" cy="401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46960"/>
            <a:ext cx="2148840" cy="401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&amp; Explainer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51760" y="2427224"/>
            <a:ext cx="1230092" cy="2407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346960"/>
            <a:ext cx="50292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748280"/>
            <a:ext cx="5303520" cy="401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48280"/>
            <a:ext cx="2148840" cy="401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2828544"/>
            <a:ext cx="1390538" cy="2407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748280"/>
            <a:ext cx="50292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149600"/>
            <a:ext cx="5303520" cy="401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49600"/>
            <a:ext cx="2148840" cy="401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Aspirational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51760" y="3229864"/>
            <a:ext cx="1604467" cy="2407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149600"/>
            <a:ext cx="50292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550920"/>
            <a:ext cx="5303520" cy="401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50920"/>
            <a:ext cx="2148840" cy="401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&amp; Offer-Based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51760" y="3631184"/>
            <a:ext cx="1711432" cy="2407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550920"/>
            <a:ext cx="50292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52240"/>
            <a:ext cx="5303520" cy="401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52240"/>
            <a:ext cx="2148840" cy="401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&amp; Social Proof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51760" y="4032504"/>
            <a:ext cx="2139290" cy="2407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3952240"/>
            <a:ext cx="50292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353560"/>
            <a:ext cx="5303520" cy="40132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53560"/>
            <a:ext cx="2148840" cy="4013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Product-Centric ★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651760" y="4433824"/>
            <a:ext cx="2406701" cy="24079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4353560"/>
            <a:ext cx="502920" cy="401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89320" y="118872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89320" y="1188720"/>
            <a:ext cx="54864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1280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Product-Centric lidera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26480" y="1591056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4.5% con mayor volumen (n≈230). Opción escalable y confiable.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989320" y="237744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89320" y="2377440"/>
            <a:ext cx="54864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2468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Testimonial sorprende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26480" y="2779776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4.0% con menor volumen → alto impacto por unidad. Prueba social funciona.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989320" y="356616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89320" y="3566160"/>
            <a:ext cx="54864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Trend-Based decepciona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126480" y="3968496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más bajo pese a actualidad. La relevancia temporal sola no garantiza clicks.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866644" cy="256032"/>
          </a:xfrm>
          <a:prstGeom prst="roundRect">
            <a:avLst>
              <a:gd name="adj" fmla="val 17857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8666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· RESULTADOS UNIVARIADOS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 promedio por Creative Concept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concepto se separa del resto con diferencia abismal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 / 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5303520" cy="3611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1828800" cy="3611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215238"/>
            <a:ext cx="67688" cy="216713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143000"/>
            <a:ext cx="502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04188"/>
            <a:ext cx="5303520" cy="3611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04188"/>
            <a:ext cx="1828800" cy="3611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Meme-based content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31720" y="1576426"/>
            <a:ext cx="84611" cy="216713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504188"/>
            <a:ext cx="502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865376"/>
            <a:ext cx="5303520" cy="3611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865376"/>
            <a:ext cx="1828800" cy="3611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Before-and-after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31720" y="1937614"/>
            <a:ext cx="101533" cy="216713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865376"/>
            <a:ext cx="502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226564"/>
            <a:ext cx="5303520" cy="3611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26564"/>
            <a:ext cx="1828800" cy="3611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31720" y="2298802"/>
            <a:ext cx="126916" cy="216713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226564"/>
            <a:ext cx="502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587752"/>
            <a:ext cx="5303520" cy="3611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587752"/>
            <a:ext cx="1828800" cy="3611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Limited-time offer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31720" y="2659990"/>
            <a:ext cx="152299" cy="216713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587752"/>
            <a:ext cx="502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948940"/>
            <a:ext cx="5303520" cy="3611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48940"/>
            <a:ext cx="1828800" cy="3611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31720" y="3021178"/>
            <a:ext cx="338442" cy="21671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2948940"/>
            <a:ext cx="502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310128"/>
            <a:ext cx="5303520" cy="3611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10128"/>
            <a:ext cx="1828800" cy="3611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Day-in-the-life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31720" y="3382366"/>
            <a:ext cx="363825" cy="21671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310128"/>
            <a:ext cx="502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671316"/>
            <a:ext cx="5303520" cy="3611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71316"/>
            <a:ext cx="1828800" cy="3611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31720" y="3743554"/>
            <a:ext cx="634579" cy="21671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3671316"/>
            <a:ext cx="502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032504"/>
            <a:ext cx="5303520" cy="3611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032504"/>
            <a:ext cx="1828800" cy="3611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331720" y="4104742"/>
            <a:ext cx="803800" cy="216713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4032504"/>
            <a:ext cx="502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393692"/>
            <a:ext cx="5303520" cy="36118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393692"/>
            <a:ext cx="1828800" cy="361188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★★★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331720" y="4465930"/>
            <a:ext cx="2707538" cy="216713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4393692"/>
            <a:ext cx="50292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89320" y="1143000"/>
            <a:ext cx="2834640" cy="18288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3504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035040" y="15727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CTR: 32%</a:t>
            </a:r>
            <a:endParaRPr lang="en-US" sz="3600" dirty="0"/>
          </a:p>
        </p:txBody>
      </p:sp>
      <p:sp>
        <p:nvSpPr>
          <p:cNvPr id="51" name="Text 49"/>
          <p:cNvSpPr/>
          <p:nvPr/>
        </p:nvSpPr>
        <p:spPr>
          <a:xfrm>
            <a:off x="6035040" y="21762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mayor que el promedio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dataset (3.45%)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989320" y="306324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89320" y="3063240"/>
            <a:ext cx="54864" cy="155448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3127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funciona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126480" y="3438144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respuestas automáticas de orientación (relevancia temporal + urgencia implícita). El algoritmo TikTok amplifica el engagement inicial generando mayor distribución.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4800600"/>
            <a:ext cx="5303520" cy="22860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809744"/>
            <a:ext cx="5120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Bajo n. El efecto se confirma en los modelos multivariados controlando por variables de confusión.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866644" cy="256032"/>
          </a:xfrm>
          <a:prstGeom prst="roundRect">
            <a:avLst>
              <a:gd name="adj" fmla="val 17857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8666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 · RESULTADOS UNIVARIADOS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 promedio por Talent Type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casting importa — la diversidad de representación tiene retorno medible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 / 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5303520" cy="451485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2148840" cy="451485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Comb. Influencers + Clientes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51760" y="1233297"/>
            <a:ext cx="191008" cy="270891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143000"/>
            <a:ext cx="5029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94485"/>
            <a:ext cx="5303520" cy="451485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94485"/>
            <a:ext cx="2148840" cy="451485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51760" y="1684782"/>
            <a:ext cx="840435" cy="270891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594485"/>
            <a:ext cx="5029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045970"/>
            <a:ext cx="5303520" cy="451485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45970"/>
            <a:ext cx="2148840" cy="451485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51760" y="2136267"/>
            <a:ext cx="840435" cy="270891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045970"/>
            <a:ext cx="5029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497455"/>
            <a:ext cx="5303520" cy="451485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97455"/>
            <a:ext cx="2148840" cy="451485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Comb. Actores + Clientes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51760" y="2587752"/>
            <a:ext cx="1069645" cy="270891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497455"/>
            <a:ext cx="5029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48940"/>
            <a:ext cx="5303520" cy="451485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48940"/>
            <a:ext cx="2148840" cy="451485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(No talent)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651760" y="3039237"/>
            <a:ext cx="1184250" cy="270891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948940"/>
            <a:ext cx="5029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00425"/>
            <a:ext cx="5303520" cy="451485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00425"/>
            <a:ext cx="2148840" cy="451485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51760" y="3490722"/>
            <a:ext cx="1528064" cy="27089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400425"/>
            <a:ext cx="5029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851910"/>
            <a:ext cx="5303520" cy="451485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51910"/>
            <a:ext cx="2148840" cy="451485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51760" y="3942207"/>
            <a:ext cx="1871878" cy="270891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851910"/>
            <a:ext cx="5029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303395"/>
            <a:ext cx="5303520" cy="451485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303395"/>
            <a:ext cx="2148840" cy="451485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★★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51760" y="4393692"/>
            <a:ext cx="2406701" cy="27089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4303395"/>
            <a:ext cx="502920" cy="451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9320" y="118872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89320" y="1188720"/>
            <a:ext cx="54864" cy="10515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1280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Influencers: 6.3% CTR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26480" y="1591056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CTR absoluto. Alto impacto por unidad → oportunidad clara de escalar con contenido de creators.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989320" y="237744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89320" y="2377440"/>
            <a:ext cx="54864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2468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Actores: 4.9% CTR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26480" y="2779776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lugar. La humanización del anuncio activa identificación y prueba social.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989320" y="3566160"/>
            <a:ext cx="28346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89320" y="3566160"/>
            <a:ext cx="54864" cy="10515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talento visible: moderado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26480" y="3968496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 en volumen (n≈230) pero CTR medio. Cuestiona creatividades sin presencia humana.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770632" cy="256032"/>
          </a:xfrm>
          <a:prstGeom prst="roundRect">
            <a:avLst>
              <a:gd name="adj" fmla="val 1785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ANÁLISIS MULTIVARIADO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 OLS y Random Forest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Controlando por superposición — ¿qué dimensiones tienen efecto independiente real?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 / 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54864" cy="3749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OLS — Coeficientes Estand.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463040"/>
            <a:ext cx="4114800" cy="28575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6304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&amp; Entert.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7711" y="1520190"/>
            <a:ext cx="632689" cy="17145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46304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46304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-19.0%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1748790"/>
            <a:ext cx="4114800" cy="28575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74879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00909" y="1805940"/>
            <a:ext cx="499491" cy="17145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74879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74879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2034540"/>
            <a:ext cx="4114800" cy="28575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03454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demo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67508" y="2091690"/>
            <a:ext cx="432892" cy="17145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03454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203454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-13.0%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2320290"/>
            <a:ext cx="4114800" cy="28575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32029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34107" y="2377440"/>
            <a:ext cx="366293" cy="17145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32029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232029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-11.0%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2606040"/>
            <a:ext cx="4114800" cy="28575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60604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(talent)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900705" y="2663190"/>
            <a:ext cx="299695" cy="17145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260604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260604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-9.0%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2891790"/>
            <a:ext cx="4114800" cy="28575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89179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0" y="2948940"/>
            <a:ext cx="133198" cy="17145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289179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289179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" y="3177540"/>
            <a:ext cx="4114800" cy="28575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17754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 theme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0" y="3234690"/>
            <a:ext cx="266395" cy="17145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317754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317754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2920" y="3463290"/>
            <a:ext cx="4114800" cy="28575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46329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0" y="3520440"/>
            <a:ext cx="299695" cy="17145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346329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0" y="346329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2920" y="3749040"/>
            <a:ext cx="4114800" cy="28575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374904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0" y="3806190"/>
            <a:ext cx="332994" cy="17145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0" y="374904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0" y="374904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02920" y="4034790"/>
            <a:ext cx="4114800" cy="28575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403479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Product-Centric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0" y="4091940"/>
            <a:ext cx="532790" cy="17145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00400" y="403479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0" y="403479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02920" y="4320540"/>
            <a:ext cx="4114800" cy="28575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32054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Day-in-life story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0400" y="4377690"/>
            <a:ext cx="632689" cy="17145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0" y="432054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0" y="432054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19.0%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02920" y="4606290"/>
            <a:ext cx="4114800" cy="28575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606290"/>
            <a:ext cx="1783080" cy="28575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★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200400" y="4663440"/>
            <a:ext cx="799186" cy="17145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0" y="4606290"/>
            <a:ext cx="18288" cy="28575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0" y="4606290"/>
            <a:ext cx="5029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46320" y="1143000"/>
            <a:ext cx="54864" cy="374904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 — Importance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892040" y="1463040"/>
            <a:ext cx="3977640" cy="3810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92040" y="1463040"/>
            <a:ext cx="1920240" cy="38100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Story theme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858000" y="1539240"/>
            <a:ext cx="158215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366760" y="1463040"/>
            <a:ext cx="502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892040" y="1844040"/>
            <a:ext cx="397764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92040" y="1844040"/>
            <a:ext cx="1920240" cy="38100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theme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858000" y="1920240"/>
            <a:ext cx="182556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66760" y="1844040"/>
            <a:ext cx="502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892040" y="2225040"/>
            <a:ext cx="3977640" cy="3810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92040" y="2225040"/>
            <a:ext cx="1920240" cy="38100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Day-in-life story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858000" y="2301240"/>
            <a:ext cx="219068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66760" y="2225040"/>
            <a:ext cx="502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892040" y="2606040"/>
            <a:ext cx="397764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92040" y="2606040"/>
            <a:ext cx="1920240" cy="38100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Product-Centric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858000" y="2682240"/>
            <a:ext cx="231238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366760" y="2606040"/>
            <a:ext cx="502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892040" y="2987040"/>
            <a:ext cx="3977640" cy="3810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92040" y="2987040"/>
            <a:ext cx="1920240" cy="38100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858000" y="3063240"/>
            <a:ext cx="267749" cy="2286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366760" y="2987040"/>
            <a:ext cx="502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892040" y="3368040"/>
            <a:ext cx="397764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892040" y="3368040"/>
            <a:ext cx="1920240" cy="38100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858000" y="3444240"/>
            <a:ext cx="255579" cy="228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366760" y="3368040"/>
            <a:ext cx="502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892040" y="3749040"/>
            <a:ext cx="3977640" cy="3810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92040" y="3749040"/>
            <a:ext cx="1920240" cy="38100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858000" y="3825240"/>
            <a:ext cx="292090" cy="2286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66760" y="3749040"/>
            <a:ext cx="502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892040" y="4130040"/>
            <a:ext cx="3977640" cy="3810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892040" y="4130040"/>
            <a:ext cx="1920240" cy="38100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talent_type_None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858000" y="4206240"/>
            <a:ext cx="316431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366760" y="4130040"/>
            <a:ext cx="502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892040" y="4511040"/>
            <a:ext cx="3977640" cy="38100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892040" y="4511040"/>
            <a:ext cx="1920240" cy="38100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★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6858000" y="4587240"/>
            <a:ext cx="1375258" cy="2286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366760" y="4511040"/>
            <a:ext cx="5029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502920" y="4846320"/>
            <a:ext cx="1920240" cy="22860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02920" y="48508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R² = 41.2%  |  modelo robusto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 / 19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TRIANGULACIÓN DE MÉTODOS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OLS y RF coinciden — los hallazgos son robustos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0" y="256032"/>
            <a:ext cx="2286000" cy="132588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320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ρ = 0.68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583680" y="1024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 (Spearman)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2984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entre |coef. OLS| y Feature Importance RF: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8503920" cy="457200"/>
          </a:xfrm>
          <a:prstGeom prst="rect">
            <a:avLst/>
          </a:prstGeom>
          <a:solidFill>
            <a:srgbClr val="16213E"/>
          </a:solidFill>
          <a:ln w="6350">
            <a:solidFill>
              <a:srgbClr val="2D3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62763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creativa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96512" y="162763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coef. std.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33872" y="1627632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importance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79792" y="162763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084832"/>
            <a:ext cx="850392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D3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08483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concept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96512" y="208483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+0.24 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33872" y="2084832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 ★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79792" y="208483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542032"/>
            <a:ext cx="8503920" cy="457200"/>
          </a:xfrm>
          <a:prstGeom prst="rect">
            <a:avLst/>
          </a:prstGeom>
          <a:solidFill>
            <a:srgbClr val="1B2535"/>
          </a:solidFill>
          <a:ln w="6350">
            <a:solidFill>
              <a:srgbClr val="2D3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54203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talent_type_Influencers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96512" y="254203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33872" y="2542032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79792" y="254203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999232"/>
            <a:ext cx="850392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D3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99923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talent_type_Actors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96512" y="299923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33872" y="2999232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79792" y="299923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456432"/>
            <a:ext cx="8503920" cy="457200"/>
          </a:xfrm>
          <a:prstGeom prst="rect">
            <a:avLst/>
          </a:prstGeom>
          <a:solidFill>
            <a:srgbClr val="1B2535"/>
          </a:solidFill>
          <a:ln w="6350">
            <a:solidFill>
              <a:srgbClr val="2D3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345643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Product-Centric theme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096512" y="345643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33872" y="3456432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79792" y="345643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913632"/>
            <a:ext cx="8503920" cy="457200"/>
          </a:xfrm>
          <a:prstGeom prst="rect">
            <a:avLst/>
          </a:prstGeom>
          <a:solidFill>
            <a:srgbClr val="1A1A2E"/>
          </a:solidFill>
          <a:ln w="6350">
            <a:solidFill>
              <a:srgbClr val="2D3A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3913632"/>
            <a:ext cx="3456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&amp; Entertainment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096512" y="391363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−0.19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33872" y="3913632"/>
            <a:ext cx="1399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79792" y="391363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SÍ (neg.)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770632" cy="256032"/>
          </a:xfrm>
          <a:prstGeom prst="roundRect">
            <a:avLst>
              <a:gd name="adj" fmla="val 1785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 · HALLAZGOS Y DISCUSIÓN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hallazgos con respaldo robusto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Confirmados por análisis univariado, OLS y Random Forest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 / 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Anclaje a eventos culturales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2395728"/>
            <a:ext cx="356616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688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Event-driven: mayor efecto positivo sobre CTR (OLS +0.24, RF importance &gt;11%).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relevancia temporal activa mecanismos de orientación automáticos y urgencia implícita — especialmente amplificados por el algoritmo de TikTok.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343400"/>
            <a:ext cx="3566160" cy="201168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5254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Pipeline de producción ágil para capturar momentos culturales.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0A2E28"/>
          </a:solidFill>
          <a:ln w="12700">
            <a:solidFill>
              <a:srgbClr val="0A2E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2801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800600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Casting diverso e inclusivo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800600" y="2395728"/>
            <a:ext cx="356616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4688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(6.3%) y Actores (4.9%) son los Talent Types con mayor CTR. Grupos con diversidad de género, raza y edad amplifican la relevancia percibida.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señales de identificación y consenso — clave en direct response. Además se alinea con objetivos EDI organizacionales.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4343400"/>
            <a:ext cx="3566160" cy="201168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35254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ROI del casting diverso justifica el esfuerzo de coordinación.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18488" cy="256032"/>
          </a:xfrm>
          <a:prstGeom prst="roundRect">
            <a:avLst>
              <a:gd name="adj" fmla="val 1785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618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 · DISCUSIÓN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Limitaciones y líneas futuras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 metodológica y próximos pasos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 / 19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4023360" cy="77724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81328"/>
            <a:ext cx="54864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361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🔎  Sesgo de selección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Top Ads de TikTok Ads Library — sobrerrepresenta anunciantes sofisticados con mayor presupuesto.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4023360" cy="77724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50008"/>
            <a:ext cx="54864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04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Solo CTR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69748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conversión (CPA) no disponible en la fuente de datos. Los hallazgos aplican al upper-funnel.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18688"/>
            <a:ext cx="4023360" cy="77724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18688"/>
            <a:ext cx="54864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735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Etiquetado automatizado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turbo captura ≥85% de concordancia, pero puede perder matices como tono de humor o calidad de producción.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87368"/>
            <a:ext cx="4023360" cy="77724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87368"/>
            <a:ext cx="54864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422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Causalidad no establecida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434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observacional. Factores no observados (presupuesto, expertise del anunciante) podrían confundir asociaciones.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170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FUTURAS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481328"/>
            <a:ext cx="402336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481328"/>
            <a:ext cx="54864" cy="10698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5361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Generalización cross-platform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19202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en Instagram Reels y YouTube Shorts. ¿Los efectos de temporalidad y representación se mantienen fuera de TikTok?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642616"/>
            <a:ext cx="402336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642616"/>
            <a:ext cx="54864" cy="10698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697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(ii)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27157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Mayor granularidad creativa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0815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etiquetado de emociones y tono de humor para diferenciar contenido oportunista vs. emocionalmente impactante.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803904"/>
            <a:ext cx="402336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803904"/>
            <a:ext cx="54864" cy="10698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8587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(iii)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49240" y="387705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Experimentos controlados A/B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42428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piezas que difieran por una sola dimensión (con/sin anclaje a evento, cast unisex vs. mixto) para estimar lift causal real.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 / 19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diversidad creativa no es solo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aspiración discursiva.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 una palanca medible de rendimiento.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822960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87168"/>
            <a:ext cx="54864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48716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Vincular mensajes a eventos culturales → mayor CTR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17520"/>
            <a:ext cx="54864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1752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Casting diverso e inclusivo → mayor CTR + alineación EDI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8229600" cy="43891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47872"/>
            <a:ext cx="54864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5478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OLS + RF coinciden: ρ = 0.68 → hallazgos robustos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 un entorno digital saturado, la diversidad creativa no solo reduce la fatiga publicitaria y mejora la relevancia: es una decisión estratégicamente rentable."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 / 19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Pero...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marca tiene tiempo y recursos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 hacer este análisis?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00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eso construí NarrativeLens.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producto para que las marcas obtengan su Creative Diversity Score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box — sin agencias costosas, sin análisis manual.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02536" cy="256032"/>
          </a:xfrm>
          <a:prstGeom prst="roundRect">
            <a:avLst>
              <a:gd name="adj" fmla="val 17857"/>
            </a:avLst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 · NARRATIVELENS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gap que NarrativeLens resuelve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marcas viven el problema — pero no tienen la herramienta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 / 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23360" cy="352044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😰  El dolor de las marcas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556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cae y no saben si es el tema, el casting, el concepto o simplemente fatiga.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4414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Producen variaciones del mismo concepto — el algoritmo (Andromeda/TikTok) las trata como una sola.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1272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métricas sistemáticas, las decisiones creativas dependen de intuición y tendencias.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81304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 una agencia de creative strategy cuesta $5k–$20k+ por auditoría.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Alternativas actuales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1755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 de creative strategy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Costosas, lentas, no escalables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4414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Creative Center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715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Solo tendencias, sin análisis de portfolio propio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1272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ad-hoc en Excel/Sheets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Manual, sin visión multidimensional ni benchmark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813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Set CDS (original)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Propietario, acceso limitado, no automatizado por marca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17 / 19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NarrativeLens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intelligence for paid social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el portfolio de anuncios de una marca, asigna scores de diversidad creativa por dimensión y los benchmarkea contra el mercado — todo automatizado con Gemini AI.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2011680" cy="2423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95728"/>
            <a:ext cx="54864" cy="2423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450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" y="2907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Conecta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310128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tu cuenta de TikTok Ads Library o sube tu portfolio de creatividades.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2395728"/>
            <a:ext cx="2011680" cy="2423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395728"/>
            <a:ext cx="54864" cy="2423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2450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15768" y="2907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Analiza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15768" y="3310128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 etiqueta cada pieza en Theme, Concept y Talent 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395728"/>
            <a:ext cx="2011680" cy="2423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395728"/>
            <a:ext cx="54864" cy="2423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2450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64608" y="2907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Scorea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64608" y="3310128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NarrativeLens calcula tu CDS por dimensión y muestra gaps vs. benchmark.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2395728"/>
            <a:ext cx="2011680" cy="2423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2395728"/>
            <a:ext cx="54864" cy="2423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13448" y="24505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13448" y="2907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Actúa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13448" y="3310128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concretas: qué tipo de creatividad producir para subir CTR.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FastAPI · Streamlit · Gemini 1.5 Pro · GCP · TikTok Ads API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674620" cy="256032"/>
          </a:xfrm>
          <a:prstGeom prst="roundRect">
            <a:avLst>
              <a:gd name="adj" fmla="val 17857"/>
            </a:avLst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674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 · NARRATIVELENS —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NarrativeLens en acción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Creative Diversity Score por dimensión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18 / 19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8229600" cy="3611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16152"/>
            <a:ext cx="8138160" cy="3520440"/>
          </a:xfrm>
          <a:prstGeom prst="rect">
            <a:avLst/>
          </a:prstGeom>
          <a:solidFill>
            <a:srgbClr val="F1F5F9"/>
          </a:solidFill>
          <a:ln w="12700">
            <a:solidFill>
              <a:srgbClr val="00C9A7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de la aplicación NarrativeLens 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CDS Score · Breakdown por dimensión · Benchmark vs. industria · Recomendaciones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3291840"/>
            <a:ext cx="3291840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3364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CDS 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 / 100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926080" y="4114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+18 vs. industria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solidFill>
            <a:srgbClr val="E0FBF4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1431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Reemplazar este placeholder con capturas reales de la app antes de la defensa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006E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diversidad creativa es una decisión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estratégicamente rentable.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51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Jaureguiberry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992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ITBA · M.Sc. Management &amp; Analytics · 2025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560320"/>
            <a:ext cx="2468880" cy="21945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697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NarrativeLens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3108960"/>
            <a:ext cx="1828800" cy="1280160"/>
          </a:xfrm>
          <a:prstGeom prst="rect">
            <a:avLst/>
          </a:prstGeom>
          <a:solidFill>
            <a:srgbClr val="FFFFFF">
              <a:alpha val="20000"/>
            </a:srgbClr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QR Code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4480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narrativelens.app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4297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74520" y="4709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4297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ρ=0.68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91840" y="4709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OLS↔RF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4297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09160" y="4709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(OLS)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Diversity y Ad Performance en TikTok</dc:title>
  <dc:subject>PptxGenJS Presentation</dc:subject>
  <dc:creator>Camilo Jaureguiberry</dc:creator>
  <cp:lastModifiedBy>Camilo Jaureguiberry</cp:lastModifiedBy>
  <cp:revision>1</cp:revision>
  <dcterms:created xsi:type="dcterms:W3CDTF">2026-03-23T22:44:20Z</dcterms:created>
  <dcterms:modified xsi:type="dcterms:W3CDTF">2026-03-23T22:44:20Z</dcterms:modified>
</cp:coreProperties>
</file>